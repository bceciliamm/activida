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1" r:id="rId3"/>
    <p:sldId id="362" r:id="rId4"/>
    <p:sldId id="257" r:id="rId5"/>
    <p:sldId id="323" r:id="rId6"/>
    <p:sldId id="263" r:id="rId7"/>
    <p:sldId id="324" r:id="rId8"/>
    <p:sldId id="260" r:id="rId9"/>
    <p:sldId id="348" r:id="rId10"/>
    <p:sldId id="258" r:id="rId11"/>
    <p:sldId id="266" r:id="rId12"/>
    <p:sldId id="332" r:id="rId13"/>
    <p:sldId id="268" r:id="rId14"/>
    <p:sldId id="269" r:id="rId15"/>
    <p:sldId id="333" r:id="rId16"/>
    <p:sldId id="283" r:id="rId17"/>
    <p:sldId id="355" r:id="rId18"/>
    <p:sldId id="356" r:id="rId19"/>
    <p:sldId id="334" r:id="rId20"/>
    <p:sldId id="335" r:id="rId21"/>
    <p:sldId id="336" r:id="rId22"/>
    <p:sldId id="284" r:id="rId23"/>
    <p:sldId id="354" r:id="rId24"/>
    <p:sldId id="357" r:id="rId25"/>
    <p:sldId id="358" r:id="rId26"/>
    <p:sldId id="344" r:id="rId27"/>
    <p:sldId id="365" r:id="rId28"/>
    <p:sldId id="286" r:id="rId29"/>
    <p:sldId id="338" r:id="rId30"/>
    <p:sldId id="340" r:id="rId31"/>
    <p:sldId id="341" r:id="rId32"/>
    <p:sldId id="343" r:id="rId33"/>
    <p:sldId id="345" r:id="rId34"/>
    <p:sldId id="347" r:id="rId35"/>
    <p:sldId id="346" r:id="rId36"/>
    <p:sldId id="349" r:id="rId37"/>
    <p:sldId id="350" r:id="rId38"/>
    <p:sldId id="337" r:id="rId39"/>
    <p:sldId id="287" r:id="rId40"/>
    <p:sldId id="306" r:id="rId41"/>
    <p:sldId id="308" r:id="rId42"/>
    <p:sldId id="315" r:id="rId43"/>
    <p:sldId id="313" r:id="rId44"/>
    <p:sldId id="314" r:id="rId45"/>
    <p:sldId id="328" r:id="rId46"/>
    <p:sldId id="321" r:id="rId47"/>
    <p:sldId id="316" r:id="rId48"/>
    <p:sldId id="360" r:id="rId49"/>
    <p:sldId id="359" r:id="rId50"/>
    <p:sldId id="317" r:id="rId51"/>
    <p:sldId id="318" r:id="rId52"/>
    <p:sldId id="351" r:id="rId53"/>
    <p:sldId id="352" r:id="rId54"/>
    <p:sldId id="320" r:id="rId55"/>
    <p:sldId id="363" r:id="rId5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892" autoAdjust="0"/>
    <p:restoredTop sz="94628"/>
  </p:normalViewPr>
  <p:slideViewPr>
    <p:cSldViewPr snapToGrid="0">
      <p:cViewPr varScale="1">
        <p:scale>
          <a:sx n="79" d="100"/>
          <a:sy n="79" d="100"/>
        </p:scale>
        <p:origin x="23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CB8B-0482-46D1-BC77-F9C51D2F6BEA}" type="datetimeFigureOut">
              <a:rPr lang="es-MX" smtClean="0"/>
              <a:t>26/11/25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53B1-07D5-48FB-8E98-114AFFD69A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6346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CB8B-0482-46D1-BC77-F9C51D2F6BEA}" type="datetimeFigureOut">
              <a:rPr lang="es-MX" smtClean="0"/>
              <a:t>26/11/25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53B1-07D5-48FB-8E98-114AFFD69A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5365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CB8B-0482-46D1-BC77-F9C51D2F6BEA}" type="datetimeFigureOut">
              <a:rPr lang="es-MX" smtClean="0"/>
              <a:t>26/11/25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53B1-07D5-48FB-8E98-114AFFD69A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074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CB8B-0482-46D1-BC77-F9C51D2F6BEA}" type="datetimeFigureOut">
              <a:rPr lang="es-MX" smtClean="0"/>
              <a:t>26/11/25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53B1-07D5-48FB-8E98-114AFFD69A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5364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CB8B-0482-46D1-BC77-F9C51D2F6BEA}" type="datetimeFigureOut">
              <a:rPr lang="es-MX" smtClean="0"/>
              <a:t>26/11/25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53B1-07D5-48FB-8E98-114AFFD69A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923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CB8B-0482-46D1-BC77-F9C51D2F6BEA}" type="datetimeFigureOut">
              <a:rPr lang="es-MX" smtClean="0"/>
              <a:t>26/11/25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53B1-07D5-48FB-8E98-114AFFD69A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9087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CB8B-0482-46D1-BC77-F9C51D2F6BEA}" type="datetimeFigureOut">
              <a:rPr lang="es-MX" smtClean="0"/>
              <a:t>26/11/25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53B1-07D5-48FB-8E98-114AFFD69A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4991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CB8B-0482-46D1-BC77-F9C51D2F6BEA}" type="datetimeFigureOut">
              <a:rPr lang="es-MX" smtClean="0"/>
              <a:t>26/11/25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53B1-07D5-48FB-8E98-114AFFD69A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666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CB8B-0482-46D1-BC77-F9C51D2F6BEA}" type="datetimeFigureOut">
              <a:rPr lang="es-MX" smtClean="0"/>
              <a:t>26/11/25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53B1-07D5-48FB-8E98-114AFFD69A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6516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CB8B-0482-46D1-BC77-F9C51D2F6BEA}" type="datetimeFigureOut">
              <a:rPr lang="es-MX" smtClean="0"/>
              <a:t>26/11/25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53B1-07D5-48FB-8E98-114AFFD69A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8849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CB8B-0482-46D1-BC77-F9C51D2F6BEA}" type="datetimeFigureOut">
              <a:rPr lang="es-MX" smtClean="0"/>
              <a:t>26/11/25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53B1-07D5-48FB-8E98-114AFFD69A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053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ACB8B-0482-46D1-BC77-F9C51D2F6BEA}" type="datetimeFigureOut">
              <a:rPr lang="es-MX" smtClean="0"/>
              <a:t>26/11/25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D53B1-07D5-48FB-8E98-114AFFD69A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294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jpeg"/><Relationship Id="rId4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643" y="0"/>
            <a:ext cx="9144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80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96D8C-DA5C-CC7D-7F0F-00AC3524E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1BD0C8A-A264-214C-EC8A-238ADAFB3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725" y="3230674"/>
            <a:ext cx="3755800" cy="3058206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5770B2F-AA07-B5C6-B55E-311E37E2E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246" y="434409"/>
            <a:ext cx="4034175" cy="27898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1DEA828-011D-DA05-D2D2-7F23AACFC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8062" y="569120"/>
            <a:ext cx="4283485" cy="323214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5A817EA-F609-7910-50E4-4EC7A4D405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612" y="3739243"/>
            <a:ext cx="4216167" cy="278980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0451013-D07F-1A5F-0942-5663F8C022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81" y="3302792"/>
            <a:ext cx="4337806" cy="308610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2CAB7A2-9117-3F1E-8910-D69F3216DD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21" y="0"/>
            <a:ext cx="4200719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81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D177C-F385-A62A-FF13-C87B7E4D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B0FE53FC-1F33-A0E9-CEFA-EE4D06CE7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13" y="4310140"/>
            <a:ext cx="3070549" cy="2225257"/>
          </a:xfr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F3B9C43-6347-87D1-B84B-1A08AFC36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070" y="4310139"/>
            <a:ext cx="2759979" cy="22748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F7B85F-8B69-14C3-B247-79AB9329F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767" y="532153"/>
            <a:ext cx="4514394" cy="322670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5F25AC5-A9CC-5E42-9C9F-0E7C2AE58C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13" y="322603"/>
            <a:ext cx="5862458" cy="364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7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629729" y="1239741"/>
            <a:ext cx="10962339" cy="5135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40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s-MX" sz="4000" b="1" kern="100" dirty="0" err="1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ActiVida</a:t>
            </a:r>
            <a:r>
              <a:rPr lang="es-MX" sz="40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no entrenamos sólo para llegar más rápido…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4000" b="1" kern="100" dirty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40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MX" sz="40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ntrenamos</a:t>
            </a:r>
            <a:r>
              <a:rPr lang="es-MX" sz="40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s-MX" sz="40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llegar enteros </a:t>
            </a:r>
            <a:r>
              <a:rPr lang="es-MX" sz="40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s-MX" sz="40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felices.</a:t>
            </a:r>
          </a:p>
          <a:p>
            <a:r>
              <a:rPr lang="es-MX" sz="4000" b="1" dirty="0">
                <a:latin typeface="Aptos"/>
              </a:rPr>
              <a:t>Construimos</a:t>
            </a:r>
            <a:r>
              <a:rPr lang="es-MX" sz="4000" dirty="0">
                <a:latin typeface="Aptos"/>
              </a:rPr>
              <a:t> un </a:t>
            </a:r>
            <a:r>
              <a:rPr lang="es-MX" sz="4000" b="1" dirty="0">
                <a:latin typeface="Aptos"/>
              </a:rPr>
              <a:t>estilo de vida </a:t>
            </a:r>
            <a:r>
              <a:rPr lang="es-MX" sz="4000" dirty="0">
                <a:latin typeface="Aptos"/>
              </a:rPr>
              <a:t>sostenible </a:t>
            </a:r>
          </a:p>
          <a:p>
            <a:r>
              <a:rPr lang="es-MX" sz="4000" dirty="0">
                <a:latin typeface="Aptos"/>
              </a:rPr>
              <a:t>con </a:t>
            </a:r>
            <a:r>
              <a:rPr lang="es-MX" sz="4000" b="1" dirty="0">
                <a:latin typeface="Aptos"/>
              </a:rPr>
              <a:t>hábitos diarios.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4000" b="1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452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D5D1B-EB2C-6049-7934-DBECECF7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78E9FDA-FB9A-5B33-D136-8F54D0501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6509FA2-81CB-2F66-544A-2D488D22A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20D69CD-CCE5-2088-3CFA-10CE1BD5D2D5}"/>
              </a:ext>
            </a:extLst>
          </p:cNvPr>
          <p:cNvSpPr txBox="1"/>
          <p:nvPr/>
        </p:nvSpPr>
        <p:spPr>
          <a:xfrm>
            <a:off x="603850" y="568112"/>
            <a:ext cx="1096233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u="sng" dirty="0">
                <a:solidFill>
                  <a:srgbClr val="00B050"/>
                </a:solidFill>
                <a:latin typeface="Aptos"/>
              </a:rPr>
              <a:t>MISIÓN</a:t>
            </a:r>
          </a:p>
          <a:p>
            <a:pPr algn="just"/>
            <a:r>
              <a:rPr lang="es-MX" sz="36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s-MX" sz="36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ActiVida</a:t>
            </a:r>
            <a:r>
              <a:rPr lang="es-MX" sz="36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3600" b="0" i="0" u="none" strike="noStrike" dirty="0">
                <a:solidFill>
                  <a:srgbClr val="001D35"/>
                </a:solidFill>
                <a:effectLst/>
                <a:latin typeface="Google Sans"/>
              </a:rPr>
              <a:t>es fomentar y promover la práctica del atletismo entre sus miembros y la comunidad, ofreciendo un entorno de entrenamiento, competición y desarrollo de habilidades deportivas, además de promover un estilo de vida saludable y el compañerismo. </a:t>
            </a:r>
          </a:p>
          <a:p>
            <a:pPr algn="just"/>
            <a:endParaRPr lang="es-MX" sz="3600" dirty="0">
              <a:solidFill>
                <a:srgbClr val="001D35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20840186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603850" y="568112"/>
            <a:ext cx="1096233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u="sng" dirty="0">
                <a:solidFill>
                  <a:srgbClr val="00B050"/>
                </a:solidFill>
                <a:latin typeface="Aptos"/>
              </a:rPr>
              <a:t>FILOSOFÍA</a:t>
            </a:r>
          </a:p>
          <a:p>
            <a:pPr algn="just"/>
            <a:endParaRPr lang="es-ES" sz="3600" dirty="0">
              <a:latin typeface="Aptos"/>
            </a:endParaRPr>
          </a:p>
          <a:p>
            <a:pPr algn="just"/>
            <a:r>
              <a:rPr lang="es-ES" sz="3600" dirty="0">
                <a:latin typeface="Aptos"/>
              </a:rPr>
              <a:t>Ser una comunidad inclusiva y apasionada que inspira a personas de todos los niveles a descubrir su máximo potencial rompiendo sus propios paradigmas a través del running promoviendo la salud, la perseverancia y el compañerismo en cada paso, cada entrenamiento y carrera es una </a:t>
            </a:r>
            <a:r>
              <a:rPr lang="es-ES" sz="3600" b="1" dirty="0">
                <a:latin typeface="Aptos"/>
              </a:rPr>
              <a:t>oportunidad para superarnos</a:t>
            </a:r>
            <a:r>
              <a:rPr lang="es-ES" sz="3600" dirty="0">
                <a:latin typeface="Aptos"/>
              </a:rPr>
              <a:t>, disfrutando el recorrido </a:t>
            </a:r>
            <a:r>
              <a:rPr lang="es-ES" sz="3600" b="1" dirty="0">
                <a:latin typeface="Aptos"/>
              </a:rPr>
              <a:t>mejorando la salud física y mental.</a:t>
            </a:r>
            <a:endParaRPr lang="es-ES" sz="36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5367045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C2840-3F40-4F98-9C68-714CE150C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C041139-58A3-35B0-27E9-6B0414DD3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07882A5-D87E-D61C-9113-6D5B2ED6E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E84EE9D-360D-5EA0-3F47-87A1A4E2F244}"/>
              </a:ext>
            </a:extLst>
          </p:cNvPr>
          <p:cNvSpPr txBox="1"/>
          <p:nvPr/>
        </p:nvSpPr>
        <p:spPr>
          <a:xfrm>
            <a:off x="603850" y="568112"/>
            <a:ext cx="10962339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u="sng" dirty="0">
                <a:solidFill>
                  <a:srgbClr val="00B050"/>
                </a:solidFill>
                <a:latin typeface="Aptos"/>
              </a:rPr>
              <a:t>VISIÓN</a:t>
            </a:r>
          </a:p>
          <a:p>
            <a:pPr algn="ctr"/>
            <a:endParaRPr lang="es-MX" sz="4000" u="sng" dirty="0">
              <a:solidFill>
                <a:srgbClr val="00B050"/>
              </a:solidFill>
              <a:latin typeface="Aptos"/>
            </a:endParaRPr>
          </a:p>
          <a:p>
            <a:pPr algn="ctr"/>
            <a:endParaRPr lang="es-MX" sz="3600" dirty="0">
              <a:latin typeface="Aptos"/>
            </a:endParaRPr>
          </a:p>
          <a:p>
            <a:pPr algn="ctr"/>
            <a:r>
              <a:rPr lang="es-MX" sz="3600" dirty="0">
                <a:latin typeface="Aptos"/>
              </a:rPr>
              <a:t>Ser reconocidos como un club líder de running inovador a nivel local en la comunidad corredora, ofreciendo programas y servicios de alta calidad y vanguardia, promoviendo el desarrollo deportivo, físico y personal de los miembros.</a:t>
            </a:r>
          </a:p>
          <a:p>
            <a:pPr>
              <a:buNone/>
            </a:pPr>
            <a:br>
              <a:rPr lang="es-MX" sz="3600" dirty="0"/>
            </a:br>
            <a:endParaRPr lang="es-MX" sz="3600" b="1" dirty="0">
              <a:latin typeface="Aptos"/>
            </a:endParaRPr>
          </a:p>
          <a:p>
            <a:endParaRPr lang="es-MX" sz="2800" dirty="0">
              <a:latin typeface="Aptos"/>
            </a:endParaRPr>
          </a:p>
          <a:p>
            <a:pPr algn="just"/>
            <a:endParaRPr lang="es-ES" sz="3600" dirty="0">
              <a:latin typeface="Aptos"/>
            </a:endParaRPr>
          </a:p>
          <a:p>
            <a:pPr algn="just"/>
            <a:endParaRPr lang="es-ES" sz="40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547143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502920" y="692209"/>
            <a:ext cx="11369040" cy="5695149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s-MX" sz="30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FORMA DE TRABAJO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5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Siguiendo una planificación de entrenamiento </a:t>
            </a:r>
            <a:r>
              <a:rPr lang="es-MX" sz="25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con base a las ciencias del ejercicio </a:t>
            </a:r>
            <a:r>
              <a:rPr lang="es-MX" sz="25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para potencializar el rendimiento individual principalmente en carreras de resistencia: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5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Pista 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5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Asfalto 5K 10K 21K 42K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500" i="1" kern="100" dirty="0" err="1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Trail</a:t>
            </a:r>
            <a:r>
              <a:rPr lang="es-MX" sz="2500" i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5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sz="2500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cerro-montaña; </a:t>
            </a:r>
            <a:r>
              <a:rPr lang="es-MX" sz="25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distancias cortas, medias, larga y ultra)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5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Triatlón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5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Ciclismo</a:t>
            </a:r>
          </a:p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es-MX" sz="30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MX" sz="25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s-ES" sz="2500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2500" kern="100" dirty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2500" dirty="0">
                <a:latin typeface="Aptos"/>
              </a:rPr>
              <a:t>	</a:t>
            </a:r>
            <a:endParaRPr lang="es-MX" sz="25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12257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80B2D-D087-C4EB-AD0C-C47F257E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4EF30DF-6987-7ADC-8F23-F9D22BD9F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785DB69-097C-E1F5-37D0-536D88917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EBAA7C4-C3FC-1EE6-3DF8-F9FF2551C419}"/>
              </a:ext>
            </a:extLst>
          </p:cNvPr>
          <p:cNvSpPr txBox="1"/>
          <p:nvPr/>
        </p:nvSpPr>
        <p:spPr>
          <a:xfrm>
            <a:off x="783772" y="832757"/>
            <a:ext cx="8184695" cy="200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Aft>
                <a:spcPts val="0"/>
              </a:spcAft>
            </a:pPr>
            <a:r>
              <a:rPr lang="es-MX" sz="20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s-MX" sz="18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Entrenamientos </a:t>
            </a: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s-MX" sz="18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s-MX" sz="18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emi personalizados</a:t>
            </a: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endParaRPr lang="es-MX" b="1" kern="100" dirty="0">
              <a:latin typeface="Aptos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endParaRPr lang="es-MX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238D502-D23F-2F78-9992-CF3080650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86" y="2291079"/>
            <a:ext cx="1150447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Una parte del entrenamiento es presencial</a:t>
            </a:r>
            <a:b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 ves con el entrenador y el grupo ciertos días fijos: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Ejemplo: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Martes: pista o técnica de carrera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Jueves: fuerza / técnica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Domingo: fondo largo en grupo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 otra parte es a distancia (online / individual)</a:t>
            </a:r>
            <a:b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El resto de la semana cada atleta entrena por su cuenta, siguiendo un plan que el coach manda: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Plan semanal por WhatsApp, app o Excel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Ritmos, distancias y objetivos de cada sesión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Retroalimentación con videos, mensajes, comentarios de cómo se sintieron,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8769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56" y="897808"/>
            <a:ext cx="8945880" cy="5960192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251269" y="4688175"/>
            <a:ext cx="481131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500" b="1" dirty="0">
                <a:solidFill>
                  <a:schemeClr val="bg1"/>
                </a:solidFill>
                <a:latin typeface="Aptos"/>
              </a:rPr>
              <a:t>¿EN QUÉ NIVEL DE CORREDOR ESTÁS?</a:t>
            </a:r>
            <a:endParaRPr lang="es-MX" sz="4500" b="1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7562039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70560" y="817422"/>
            <a:ext cx="11155680" cy="1336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altLang="es-MX" sz="3600" b="1" dirty="0">
                <a:solidFill>
                  <a:srgbClr val="000000"/>
                </a:solidFill>
                <a:latin typeface="Arial" panose="020B0604020202020204" pitchFamily="34" charset="0"/>
              </a:rPr>
              <a:t>🟢 </a:t>
            </a:r>
            <a:r>
              <a:rPr lang="es-MX" sz="35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NIVEL PRINCIPIANTE/INICIACIÓN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s-MX" sz="30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575782-51DA-A693-17A9-2D14A031F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31" y="1659013"/>
            <a:ext cx="1298798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Tiempo corriendo: 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0 a 6–9 meses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Frecuencia: 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2–3 días por semana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(a veces inconstante).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Fondo cómodo: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Corre o trota 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20–40 min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seguidos, o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Hace 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CACO (caminar–correr)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en 5K.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Carreras: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Primera vez en 5K o corre 5K sin preocuparse por el tiempo.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Técnica: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Aún aprende postura, cadencia, braceo, respiración.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Objetivo principal: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Crear hábito, disfrutar, 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evitar lesiones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terminar sus primeras carreras con buena experiencia.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63357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BE7889F-8E24-717C-DEEF-EB54D22EA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29" y="1153852"/>
            <a:ext cx="12583656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Aún puede ser principiante si…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Aunque lleve </a:t>
            </a:r>
            <a:r>
              <a:rPr kumimoji="0" lang="es-MX" altLang="es-MX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más de 1 año</a:t>
            </a: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 muchos siguen siendo “principiantes” si:</a:t>
            </a:r>
            <a:endParaRPr kumimoji="0" lang="es-MX" altLang="es-MX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Solo corre “por ratos” (deja y regresa seguido).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No tiene un plan estructurado.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No ha construido todavía una base sólida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(poca resistencia, poca fuerza, poca experiencia en competencias).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5B12A8-99FE-1DD4-C7D6-CB96EF2FB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10FB022-BD56-FA36-EE77-1042C8797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624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70560" y="817422"/>
            <a:ext cx="11155680" cy="1319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5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NIVEL INTERMEDIO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30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D38621-B4C8-F4C1-FAFB-C1826B257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1" y="1615092"/>
            <a:ext cx="1182624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Perfil:</a:t>
            </a: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Tiempo corriendo: 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6–12 meses o más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con mayor constancia.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Frecuencia: 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3–4 días por semana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casi todo el año.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Fondo cómodo: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Corre 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8–12 km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o 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60–80 min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seguidos.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Carreras: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Ya ha corrido varios 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5K y 10K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 quizá 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un medio maratón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Técnica: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Conoce conceptos básicos (ritmo por km, RPE, zonas), ya ha hecho algo de pista o cambios de ritmo.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Objetivo principal: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Mejorar tiempos, aprender a entrenar con estructura, prepararse para 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altLang="es-MX" sz="2000" dirty="0">
                <a:solidFill>
                  <a:srgbClr val="000000"/>
                </a:solidFill>
                <a:latin typeface="Aptos" panose="020B0004020202020204" pitchFamily="34" charset="0"/>
              </a:rPr>
              <a:t>      </a:t>
            </a: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10K y medio maratón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con más seriedad.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0B10B26-3F80-0FF2-74E7-7A27E818B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278" y="11852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🟡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88775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70560" y="595241"/>
            <a:ext cx="11521440" cy="1440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5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NIVEL AVANZADO</a:t>
            </a:r>
          </a:p>
          <a:p>
            <a:pPr>
              <a:lnSpc>
                <a:spcPct val="150000"/>
              </a:lnSpc>
            </a:pPr>
            <a:endParaRPr lang="es-MX" sz="3000" dirty="0">
              <a:latin typeface="Apto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32C534B-04B5-DE3E-7D97-74604B1AB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05" y="1136224"/>
            <a:ext cx="992932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Perfil:</a:t>
            </a: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Tiempo corriendo: 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 años o más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de manera estructurada.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Frecuencia: 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4–6 días por semana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Fondo cómodo: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Hace 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14–24 km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con buena gestión de ritmo.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Carreras: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Varios 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medios maratones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y uno o más 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maratones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 importa su marca personal, quiere bajar tiempos de forma clara.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Técnica: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 adapta bien a entrenos específicos: series de pista,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tempo controlado, tiradas largas con cambios de ritmo.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Objetivo principal: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Mejorar rendimiento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trabajar detalles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(técnica, fuerza, estrategia de carrera, nutrición,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A36D5E9-BBE7-758B-2CB9-133864AA4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05" y="9633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🔵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45388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17A6A-4D54-EDE5-70AC-59D09DED1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B8FA749-4104-B3BA-0F80-1C6EE4648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CB89246-B67A-B44B-E501-F71974B39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A4D8EBD-D20E-80B8-7793-CAC375307C7B}"/>
              </a:ext>
            </a:extLst>
          </p:cNvPr>
          <p:cNvSpPr/>
          <p:nvPr/>
        </p:nvSpPr>
        <p:spPr>
          <a:xfrm>
            <a:off x="670560" y="595241"/>
            <a:ext cx="11521440" cy="6812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5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NIVEL ELITE</a:t>
            </a:r>
            <a:endParaRPr lang="es-MX" sz="3000" dirty="0">
              <a:latin typeface="Apto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DB608C-9F35-0EED-7D40-38D7A68E2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" y="1276453"/>
            <a:ext cx="10106994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Tiempo corriendo: </a:t>
            </a:r>
            <a:r>
              <a:rPr lang="es-MX" altLang="es-MX" sz="2800" b="1" dirty="0">
                <a:solidFill>
                  <a:srgbClr val="000000"/>
                </a:solidFill>
                <a:latin typeface="Aptos" panose="020B0004020202020204" pitchFamily="34" charset="0"/>
              </a:rPr>
              <a:t>5</a:t>
            </a:r>
            <a:r>
              <a:rPr kumimoji="0" lang="es-MX" altLang="es-MX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+ años</a:t>
            </a: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entrenando con mucha constancia.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Frecuencia: </a:t>
            </a:r>
            <a:r>
              <a:rPr kumimoji="0" lang="es-MX" altLang="es-MX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5–6 días por semana</a:t>
            </a: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casi todo el año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Hace dobles sesiones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Fondo cómodo: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20–28 km según etapa de la temporada.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Carreras: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Buscan </a:t>
            </a:r>
            <a:r>
              <a:rPr kumimoji="0" lang="es-MX" altLang="es-MX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podium</a:t>
            </a: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 clasificación a carreras específicas (Boston, p.ej.), o marcas muy exigentes.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Representa a </a:t>
            </a:r>
            <a:r>
              <a:rPr lang="es-MX" altLang="es-MX" sz="2800" dirty="0">
                <a:solidFill>
                  <a:srgbClr val="000000"/>
                </a:solidFill>
                <a:latin typeface="Aptos" panose="020B0004020202020204" pitchFamily="34" charset="0"/>
              </a:rPr>
              <a:t>México </a:t>
            </a:r>
            <a:endParaRPr kumimoji="0" lang="es-MX" altLang="es-MX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Objetivo principal: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Optimizar cada detalle: ritmos, fuerza, técnica, descanso, nutrición, estrategia mental.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50208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48128" y="490494"/>
            <a:ext cx="4714432" cy="7652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40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TIPO DE CARRERAS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AA06C7-FBF0-86CB-5E81-772BC0741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229" y="1551144"/>
            <a:ext cx="70866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42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CFCA-AD43-D4B1-EF22-25FD4250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AF68089-2C99-2296-E7BF-9FAC95326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9774A34-7BA2-B414-4E96-B9F3332F7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F237DE7-F498-2F34-0002-FF40EA0C0D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9F1EBFC-61A0-7BCB-3C9E-7786283690E8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68EF3E7-1480-C484-2BD1-7C77EE5EFCA2}"/>
              </a:ext>
            </a:extLst>
          </p:cNvPr>
          <p:cNvSpPr/>
          <p:nvPr/>
        </p:nvSpPr>
        <p:spPr>
          <a:xfrm>
            <a:off x="948128" y="490494"/>
            <a:ext cx="4714432" cy="7652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40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TIPO DE CARRERAS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649D06-A17A-B180-BDF7-A5F159950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293170"/>
            <a:ext cx="7772400" cy="427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02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883AE-A655-6A9C-21B2-10874CD03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A2A4192-7E7C-F0B4-B71C-A8DE0A663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4A650C-EBBA-BC53-9FF5-89B0BD627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184060C-550B-A7D5-3354-B8191B7BCC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906C56B-07F1-0B73-8794-9DCAC0DEA9FE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A932800-1218-60AD-0BED-C22891664C43}"/>
              </a:ext>
            </a:extLst>
          </p:cNvPr>
          <p:cNvSpPr/>
          <p:nvPr/>
        </p:nvSpPr>
        <p:spPr>
          <a:xfrm>
            <a:off x="948128" y="490494"/>
            <a:ext cx="4714432" cy="7652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40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TIPO DE CARRERAS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517402-A04B-85E7-B675-6D84FC40B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367418"/>
            <a:ext cx="7772400" cy="412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5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30BC9-C40C-47A6-FA68-30BC36D4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D4B3706-3F69-9AC1-FEAD-10E9D09C0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A5B7337-958C-53AA-5C8B-5ACE0CDAE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27955CF-A0B3-DF41-AAC6-D11CBBD007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1FBCC18-FA6B-331A-F5E2-A69DE79E3B87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BB3E465-5C37-1621-882B-75CED9409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2814" y="1969068"/>
            <a:ext cx="8557088" cy="4692989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FDDE97D5-9CD6-6C27-A7EA-48017F094697}"/>
              </a:ext>
            </a:extLst>
          </p:cNvPr>
          <p:cNvSpPr/>
          <p:nvPr/>
        </p:nvSpPr>
        <p:spPr>
          <a:xfrm>
            <a:off x="324222" y="671303"/>
            <a:ext cx="11340557" cy="2120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MX" sz="25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¿CARRERAS POR AÑO?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5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Depende de varios factores como experiencia, nivel de recuperación y objetivos personales.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MX" sz="105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576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44EE9-0A1E-87AC-24D3-1C5FEBF50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47DBA7E-72AE-BB83-A557-DD49CA38D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138C94D-4785-47A9-7A0A-BD9A8A605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AC96221-1157-44E4-9657-9DAA8C8AE7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C9A95B0-4611-DC15-F402-B04F295AC381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BF1962-73F9-24E9-623A-F69DF9715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21" y="1095062"/>
            <a:ext cx="9730805" cy="567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1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FD1E4-9A1D-5098-2940-6943095F7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CFE3B4C-6C67-8984-5934-12B8204B4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E3E5673-55F5-9DCB-C7CC-D2EFDA0A2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11F694D-35B1-2071-AE12-99BD252FDE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96197F7-9D3A-92E9-845E-6AF8FED8F805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FBC90D-E45D-AF10-426A-9A5B55462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04" y="879707"/>
            <a:ext cx="9270102" cy="538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209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033E7D2-FE16-6EC1-414E-FBEE80694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89" y="1052441"/>
            <a:ext cx="9402167" cy="541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30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04C8-3EC9-56B4-1C1E-DBE2C8C21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699F2CB-A32F-4243-A75F-CA8757CA9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A24629E-338E-F25D-D222-FC462CAFF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4AE55D2-6427-C1F3-E51F-4BC21150CA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21B575A-4C00-6FB2-6FCB-BAA9377A97BE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2640418-73D7-79AA-3850-D0914B04EA8D}"/>
              </a:ext>
            </a:extLst>
          </p:cNvPr>
          <p:cNvSpPr/>
          <p:nvPr/>
        </p:nvSpPr>
        <p:spPr>
          <a:xfrm>
            <a:off x="1013442" y="1235976"/>
            <a:ext cx="6830844" cy="6643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4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CALENDARIO DE COMPETENCIAS</a:t>
            </a:r>
            <a:endParaRPr lang="es-MX" sz="1200" b="1" kern="100" dirty="0">
              <a:solidFill>
                <a:srgbClr val="00B050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51565CC-4466-28FE-46A4-8D5712BF6CB9}"/>
              </a:ext>
            </a:extLst>
          </p:cNvPr>
          <p:cNvSpPr/>
          <p:nvPr/>
        </p:nvSpPr>
        <p:spPr>
          <a:xfrm>
            <a:off x="485683" y="4549835"/>
            <a:ext cx="11340557" cy="563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MX" sz="105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75C95C-18B2-7DAE-A00B-C36C02051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457" y="1900325"/>
            <a:ext cx="8564756" cy="412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5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F761A-B3BF-EF4F-C5D5-E82FFA4D4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7698F56-FFC1-7E72-FF05-3C6AD2415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69EB60A-38A0-3E20-3136-AB879A970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6AFFFFD-C613-AFE9-4656-A6DE7EB715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0799D13-A691-3D76-316C-A65BE0AD4B93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B40E12F-A28B-F267-721D-506DC7DDFD33}"/>
              </a:ext>
            </a:extLst>
          </p:cNvPr>
          <p:cNvSpPr/>
          <p:nvPr/>
        </p:nvSpPr>
        <p:spPr>
          <a:xfrm>
            <a:off x="1013442" y="1235976"/>
            <a:ext cx="6830844" cy="6643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4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CALENDARIO DE COMPETENCIAS</a:t>
            </a:r>
            <a:endParaRPr lang="es-MX" sz="1200" b="1" kern="100" dirty="0">
              <a:solidFill>
                <a:srgbClr val="00B050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B01F5CF-415F-339D-8045-E9774387ABE1}"/>
              </a:ext>
            </a:extLst>
          </p:cNvPr>
          <p:cNvSpPr/>
          <p:nvPr/>
        </p:nvSpPr>
        <p:spPr>
          <a:xfrm>
            <a:off x="485683" y="4549835"/>
            <a:ext cx="11340557" cy="563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MX" sz="105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BC2E65-6E81-DAA1-08C7-B58081B27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603" y="2287478"/>
            <a:ext cx="7772400" cy="397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56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1F699-BA92-E57D-E23C-E14A0CCF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872E4F3-F8F4-D10A-3E77-A364ED96C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920439C-2036-32C8-70D1-8C3A32F87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B01B41B-E10A-0F59-36D9-9B5BB0BFF8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A8F5BCA-DEBA-B8B2-CF0D-CC5695128E4D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E6EE22-6CFF-D072-5BA9-824E851C43DB}"/>
              </a:ext>
            </a:extLst>
          </p:cNvPr>
          <p:cNvSpPr/>
          <p:nvPr/>
        </p:nvSpPr>
        <p:spPr>
          <a:xfrm>
            <a:off x="1013442" y="1235976"/>
            <a:ext cx="6830844" cy="6643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4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CALENDARIO DE COMPETENCIAS</a:t>
            </a:r>
            <a:endParaRPr lang="es-MX" sz="1200" b="1" kern="100" dirty="0">
              <a:solidFill>
                <a:srgbClr val="00B050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21BA7D4-36BB-9180-6876-B9C7233C1C58}"/>
              </a:ext>
            </a:extLst>
          </p:cNvPr>
          <p:cNvSpPr/>
          <p:nvPr/>
        </p:nvSpPr>
        <p:spPr>
          <a:xfrm>
            <a:off x="485683" y="4549835"/>
            <a:ext cx="11340557" cy="563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8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MX" sz="105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AB92382-226F-4ACF-D672-9118D661D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603" y="2330467"/>
            <a:ext cx="7772400" cy="329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35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15389FD-C98F-F09F-31CF-ED3C6FE41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80" y="2396462"/>
            <a:ext cx="10093305" cy="268172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43CB66F-21C4-9480-7C25-AC085982E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A04A3A8-3E8A-CFD4-3C49-CE92E3393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9118716-143D-7924-FDA5-6F709F4F3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3958"/>
            <a:ext cx="31101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b="1" dirty="0">
                <a:solidFill>
                  <a:srgbClr val="00B050"/>
                </a:solidFill>
                <a:latin typeface="Aptos" panose="020B0004020202020204" pitchFamily="34" charset="0"/>
              </a:rPr>
              <a:t>TIEMPO DE RECUPERACIÓN</a:t>
            </a: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200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2E6C-7916-4F5B-D9B9-50D97A7DA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7C16A94-263A-31D0-020B-9589B3FB3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56C50BF-E4A9-C131-3BC6-48205F697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8B04A176-6175-F3EA-0E71-1855376DB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3126"/>
            <a:ext cx="805707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48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ptos" panose="020B0004020202020204" pitchFamily="34" charset="0"/>
              </a:rPr>
              <a:t>CALENDARIO DE CARRERAS</a:t>
            </a:r>
          </a:p>
        </p:txBody>
      </p:sp>
    </p:spTree>
    <p:extLst>
      <p:ext uri="{BB962C8B-B14F-4D97-AF65-F5344CB8AC3E}">
        <p14:creationId xmlns:p14="http://schemas.microsoft.com/office/powerpoint/2010/main" val="39301856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1261851" y="1066800"/>
            <a:ext cx="9518224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MX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QUE CONSIDERAR PARA CORRER UN MARATON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E7FBC4-91B0-FCBB-40C6-E2699A61E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798" y="1436851"/>
            <a:ext cx="8511145" cy="44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44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03D41-FB91-CA68-78FF-E4EA11D61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B655F21-E9A9-8047-B69A-07845CFBC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80A6AB9-53F1-B892-967B-E3C60A5E3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3BE7754-0F0D-9E7D-2B92-9F93F8606E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80EF317-BB98-1B83-0B63-746941DF0A8F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E0E299A-9371-AF9F-9C49-2144CF5EF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3464667F-69BB-37AB-3242-A613E0099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A0B787A-17BA-793C-4C42-605189E60ADC}"/>
              </a:ext>
            </a:extLst>
          </p:cNvPr>
          <p:cNvSpPr txBox="1"/>
          <p:nvPr/>
        </p:nvSpPr>
        <p:spPr>
          <a:xfrm>
            <a:off x="1261851" y="1066800"/>
            <a:ext cx="9518224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MX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QUE CONSIDERAR PARA CORRER UN MARATON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7FF4D8-859B-0AAA-23B6-932BD9E84C13}"/>
              </a:ext>
            </a:extLst>
          </p:cNvPr>
          <p:cNvSpPr/>
          <p:nvPr/>
        </p:nvSpPr>
        <p:spPr>
          <a:xfrm>
            <a:off x="828799" y="2836346"/>
            <a:ext cx="10835980" cy="327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endParaRPr lang="es-MX" sz="1400" kern="100" dirty="0">
              <a:solidFill>
                <a:prstClr val="black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2AF7D04-7DC4-AC41-FB50-46AECA3E7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21" y="1705137"/>
            <a:ext cx="10274500" cy="455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129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AB5E8-CAF4-875D-59FC-15454346F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B268FE2-E160-159C-78FC-2ECD2C452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8125126-F827-F0F9-C387-914E11874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474B116-302D-105D-3D1A-3CC31F9A11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795C772-14B6-FFBF-0BC2-1DFFEF8F0EB1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3FFF056-CFE0-D820-2340-526C89692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54039DF5-3471-775A-361F-F87FB98C4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F0C9CD9-A2E4-5665-0252-4B458AE80936}"/>
              </a:ext>
            </a:extLst>
          </p:cNvPr>
          <p:cNvSpPr txBox="1"/>
          <p:nvPr/>
        </p:nvSpPr>
        <p:spPr>
          <a:xfrm>
            <a:off x="1261851" y="1066800"/>
            <a:ext cx="9518224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MX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QUE CONSIDERAR PARA CORRER UN MARATON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FCCE3B1-BBE5-BF53-0BB5-BEA0B9B5691A}"/>
              </a:ext>
            </a:extLst>
          </p:cNvPr>
          <p:cNvSpPr/>
          <p:nvPr/>
        </p:nvSpPr>
        <p:spPr>
          <a:xfrm>
            <a:off x="828799" y="2836346"/>
            <a:ext cx="10835980" cy="327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endParaRPr lang="es-MX" sz="1400" kern="100" dirty="0">
              <a:solidFill>
                <a:prstClr val="black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010A2D-37EF-A2CE-B8E1-BC6612D54C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20" y="1498607"/>
            <a:ext cx="9877091" cy="429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1001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F2F4F-8B05-F97E-E96B-D3B04E213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82127AE-B8F8-5781-9357-20FA211F4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DDA4B6F-BF11-8395-9E7E-7E21A78E1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0CFCA96-88B0-4FC4-3694-176981DC0F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B2625DD-8DF8-4D55-CC18-985BC8B49003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0843412D-168A-D534-B740-CE66FFCDC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9CA7D83C-D767-1835-546E-51198919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0ABC8B0-79DF-0261-FC4C-AADC60728490}"/>
              </a:ext>
            </a:extLst>
          </p:cNvPr>
          <p:cNvSpPr txBox="1"/>
          <p:nvPr/>
        </p:nvSpPr>
        <p:spPr>
          <a:xfrm>
            <a:off x="1261851" y="1066800"/>
            <a:ext cx="9518224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MX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QUE CONSIDERAR PARA CORRER UN MARATON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9BC4C98-6921-48EC-AFEF-5E4DC590BB36}"/>
              </a:ext>
            </a:extLst>
          </p:cNvPr>
          <p:cNvSpPr/>
          <p:nvPr/>
        </p:nvSpPr>
        <p:spPr>
          <a:xfrm>
            <a:off x="828799" y="2836346"/>
            <a:ext cx="10835980" cy="327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endParaRPr lang="es-MX" sz="1400" kern="100" dirty="0">
              <a:solidFill>
                <a:prstClr val="black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B5ABFC6-8FBE-9FFF-CC5D-FE1CE0280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21" y="1919172"/>
            <a:ext cx="11192199" cy="427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7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2A09E-CCB8-DB9E-1421-7CA7BB99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14424D9-DA03-54D3-FB9D-6037197DB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DEEC1EF-922C-C5D9-29F9-13D8AC105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DCC3ADD-04EF-26FE-0AE6-D2B6CD7979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144624F-D148-B46C-F073-F8A2D350FF07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E6875F3-CF34-D0B6-2DA2-CF2C5926B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FA380AA-22E9-2208-925E-6D27A1FFA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944D7AC-CE3B-4AD7-DB1D-1ED894CE9344}"/>
              </a:ext>
            </a:extLst>
          </p:cNvPr>
          <p:cNvSpPr txBox="1"/>
          <p:nvPr/>
        </p:nvSpPr>
        <p:spPr>
          <a:xfrm>
            <a:off x="1261851" y="1066800"/>
            <a:ext cx="9518224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MX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QUE CONSIDERAR PARA CORRER UN MARATON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DEF7068-06C7-A2E4-F49D-6F8315AB6BD4}"/>
              </a:ext>
            </a:extLst>
          </p:cNvPr>
          <p:cNvSpPr/>
          <p:nvPr/>
        </p:nvSpPr>
        <p:spPr>
          <a:xfrm>
            <a:off x="828799" y="2836346"/>
            <a:ext cx="10835980" cy="327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endParaRPr lang="es-MX" sz="1400" kern="100" dirty="0">
              <a:solidFill>
                <a:prstClr val="black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A07245-6233-BBDE-ED7F-43D2B49E7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21" y="1461972"/>
            <a:ext cx="9232182" cy="498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242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D9564-BB79-DE53-6A09-F02623CC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079B3B7-C2CA-6621-15FE-7461A9AA2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4F6E594-6F31-951F-0372-0D7FF4631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1D08C59-3187-FE3B-23CC-9FAF910B71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803A901-61BF-FAC7-95D8-4D9853CFC626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C7FD19D7-4297-D258-9396-05B2708EB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9D49E8EE-338B-21DA-132A-1E2D17401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5F1BC4A-6D6C-61C9-3AAE-E82AD99A4EC0}"/>
              </a:ext>
            </a:extLst>
          </p:cNvPr>
          <p:cNvSpPr txBox="1"/>
          <p:nvPr/>
        </p:nvSpPr>
        <p:spPr>
          <a:xfrm>
            <a:off x="1261851" y="1066800"/>
            <a:ext cx="9518224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MX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QUE CONSIDERAR PARA CORRER UN MARATON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703F7B4-94A9-5644-B45A-9511476B3279}"/>
              </a:ext>
            </a:extLst>
          </p:cNvPr>
          <p:cNvSpPr/>
          <p:nvPr/>
        </p:nvSpPr>
        <p:spPr>
          <a:xfrm>
            <a:off x="828799" y="2836346"/>
            <a:ext cx="10835980" cy="327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endParaRPr lang="es-MX" sz="1400" kern="100" dirty="0">
              <a:solidFill>
                <a:prstClr val="black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1E41DA2-781E-CBAB-CB03-E566E33EF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21" y="1551144"/>
            <a:ext cx="9809760" cy="447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745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D37E6-9E6A-ED71-6083-507B5D85D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1AFFB24-F323-6D8E-E94E-6AC0BCC4C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EF198DB-15A2-8B26-1240-A7D40A053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CC1BE93-1D66-6D5F-A501-776F0F40CB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A59B266-79BA-EC29-8A66-39090F27FECD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4DE47DD-777A-1BD6-4885-1F3DB3BFB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669BF1D6-D275-839F-DD14-4768E2A96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AB1B4CE-D798-36AC-B2BB-60C63B62D620}"/>
              </a:ext>
            </a:extLst>
          </p:cNvPr>
          <p:cNvSpPr txBox="1"/>
          <p:nvPr/>
        </p:nvSpPr>
        <p:spPr>
          <a:xfrm>
            <a:off x="1261851" y="1066800"/>
            <a:ext cx="9518224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MX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QUE CONSIDERAR PARA CORRER UN MARATON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D8CF816-354C-8CE6-E5B6-D8EF6239BAE2}"/>
              </a:ext>
            </a:extLst>
          </p:cNvPr>
          <p:cNvSpPr/>
          <p:nvPr/>
        </p:nvSpPr>
        <p:spPr>
          <a:xfrm>
            <a:off x="828799" y="2836346"/>
            <a:ext cx="10835980" cy="327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endParaRPr lang="es-MX" sz="1400" kern="100" dirty="0">
              <a:solidFill>
                <a:prstClr val="black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556211D-6AA7-ED6F-0085-05C99AA38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790" y="2836346"/>
            <a:ext cx="828598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Que no te engañen las medallas: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un maratón no te hace corredor.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Lo que te hace corredor es el amor por correr,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en cualquier distancia</a:t>
            </a: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711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B9411-544A-6B3C-EDD7-8D5D16D9B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089F310-10B0-0106-CDB2-04A4BD42F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04EA78A-1C99-AA89-CF7E-212C9F8CC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D63B006-D0C7-1A89-7784-FFA9711C1F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F887530-C0E9-A0A7-661C-18BE2994E5B0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6C233588-7172-A89F-EAEA-774C90475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CCB08BE-B8B8-4974-2578-85C2C2B74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42D84D4-6FB5-464B-8B58-6261EBFC6097}"/>
              </a:ext>
            </a:extLst>
          </p:cNvPr>
          <p:cNvSpPr/>
          <p:nvPr/>
        </p:nvSpPr>
        <p:spPr>
          <a:xfrm>
            <a:off x="828799" y="2836346"/>
            <a:ext cx="10835980" cy="327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endParaRPr lang="es-MX" sz="1400" kern="100" dirty="0">
              <a:solidFill>
                <a:prstClr val="black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1C1238F-927C-BCF4-CBEC-D9AC4C888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3958"/>
            <a:ext cx="110576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tos" panose="020B0004020202020204" pitchFamily="34" charset="0"/>
              </a:rPr>
              <a:t>EL ÉXITO DE UN PROGRAMA DE ENTRENAMIENTO NO ES SOLO DEL ENTRENADOR, TAMBIÉN DEL ATLETA.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6CD48D5-07C5-B3FC-8934-4706B61B3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04" y="1773910"/>
            <a:ext cx="10391182" cy="3203180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10F73454-1AE1-03AB-41AB-FD60D91CA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58232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“Yo pongo el plan, pero tú pones el cuerpo, la mente y la constancia. El resultado es trabajo en equipo.”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🏃‍♀️💚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2195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79B0-D72B-C314-A5BB-6C1A6B472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6473ABD-5BC6-EC4C-88D5-876DEF427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A7F384C-7A2D-FCA4-07B1-93B0F9DF8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E62CE2B-F3BF-B428-E987-11865EC49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3958"/>
            <a:ext cx="16626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tos" panose="020B0004020202020204" pitchFamily="34" charset="0"/>
              </a:rPr>
              <a:t>RE</a:t>
            </a:r>
            <a:r>
              <a:rPr lang="es-MX" altLang="es-MX" b="1" dirty="0">
                <a:solidFill>
                  <a:srgbClr val="00B050"/>
                </a:solidFill>
                <a:latin typeface="Aptos" panose="020B0004020202020204" pitchFamily="34" charset="0"/>
              </a:rPr>
              <a:t>GLAMENTO</a:t>
            </a: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E13C4AB-6826-3F76-2E7F-56EA71A10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790" y="1489619"/>
            <a:ext cx="7772400" cy="449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22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589BB-4894-0337-36EB-8A5DF957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43AA3AD-8107-8B1D-D589-134665F5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4580F2E-E756-DA47-751C-FF71E6C3E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472AAB8B-AC02-ADBA-01C1-43A264E47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3958"/>
            <a:ext cx="16626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tos" panose="020B0004020202020204" pitchFamily="34" charset="0"/>
              </a:rPr>
              <a:t>RE</a:t>
            </a:r>
            <a:r>
              <a:rPr lang="es-MX" altLang="es-MX" b="1" dirty="0">
                <a:solidFill>
                  <a:srgbClr val="00B050"/>
                </a:solidFill>
                <a:latin typeface="Aptos" panose="020B0004020202020204" pitchFamily="34" charset="0"/>
              </a:rPr>
              <a:t>GLAMENTO</a:t>
            </a:r>
            <a:endParaRPr kumimoji="0" lang="es-MX" altLang="es-MX" sz="18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09BE73-CDFA-A227-94CD-F22B33BBB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4736" y="1869840"/>
            <a:ext cx="7772400" cy="187734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45D3983-969A-E160-AEFD-F1D15B6A4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4763" y="4367673"/>
            <a:ext cx="7772400" cy="196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495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0381A-E176-B469-69E3-59E64E2A3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FDFB980-7A2F-7D02-4E5D-9ABCFC01E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478F326-3709-07A1-CD94-5663E0372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CFB9086-7022-078E-DBEF-B83B8687DB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9FC903E-C46E-13A2-A719-534252B65B9D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AE5CA77-CC35-C67D-D304-6EAC944D3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EC0EA37C-2FA0-1FE0-B9C4-88532E6F9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6A73B1E-F0DE-119D-BBBD-DFB3DE04C531}"/>
              </a:ext>
            </a:extLst>
          </p:cNvPr>
          <p:cNvSpPr txBox="1"/>
          <p:nvPr/>
        </p:nvSpPr>
        <p:spPr>
          <a:xfrm>
            <a:off x="1261851" y="1066800"/>
            <a:ext cx="9518224" cy="1312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MX" sz="3600" b="1" kern="100" dirty="0">
                <a:solidFill>
                  <a:srgbClr val="00B05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s-MX" sz="36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EALIZAR PERIÓDICAMENTE LAS SIGUIENTES REVISIONES MÉDICAS</a:t>
            </a:r>
            <a:endParaRPr lang="es-MX" sz="1400" b="1" kern="100" dirty="0">
              <a:solidFill>
                <a:srgbClr val="00B050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EEE5D83-D185-C273-AC00-5668447947CF}"/>
              </a:ext>
            </a:extLst>
          </p:cNvPr>
          <p:cNvSpPr/>
          <p:nvPr/>
        </p:nvSpPr>
        <p:spPr>
          <a:xfrm>
            <a:off x="828799" y="2836346"/>
            <a:ext cx="10835980" cy="1414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s-MX" sz="3600" kern="1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Recomendadas para conocer el estado de salud </a:t>
            </a:r>
          </a:p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s-MX" sz="3600" kern="1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y descartar cualquier enfermedad.</a:t>
            </a:r>
            <a:endParaRPr lang="es-MX" sz="1400" kern="100" dirty="0">
              <a:solidFill>
                <a:prstClr val="black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816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896090" y="816184"/>
            <a:ext cx="10960629" cy="580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Revisión médica general 		Cada 6 meses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Biometría hemática 			Cada 6 meses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Análisis de pisada 				1 vez al año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Electrocardiograma 			1 vez al año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Prueba de esfuerzo 			</a:t>
            </a:r>
            <a:r>
              <a:rPr lang="es-MX" sz="32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Para correr </a:t>
            </a:r>
            <a:r>
              <a:rPr lang="es-MX" sz="32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maratón 							(42.195km)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Prueba de biomecánica 		</a:t>
            </a:r>
            <a:r>
              <a:rPr lang="es-MX" sz="3200" b="1" kern="100" dirty="0">
                <a:solidFill>
                  <a:srgbClr val="00B05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MX" sz="32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 caso de presentar 							molestias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Descarga muscular 			Cada 6 a 8 semanas</a:t>
            </a:r>
          </a:p>
        </p:txBody>
      </p:sp>
      <p:cxnSp>
        <p:nvCxnSpPr>
          <p:cNvPr id="5" name="Conector recto 4"/>
          <p:cNvCxnSpPr/>
          <p:nvPr/>
        </p:nvCxnSpPr>
        <p:spPr>
          <a:xfrm>
            <a:off x="927931" y="1457864"/>
            <a:ext cx="10551971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>
            <a:off x="896090" y="2136475"/>
            <a:ext cx="10551971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>
            <a:off x="927931" y="2792083"/>
            <a:ext cx="10551971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927931" y="3447690"/>
            <a:ext cx="10551971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>
            <a:off x="927931" y="4698521"/>
            <a:ext cx="10551971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927931" y="5854461"/>
            <a:ext cx="10551971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3695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7B945-115F-D6EF-D362-3B2695DD1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A5FBCCB-0309-CDD8-66DF-587671229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E17DBAB-EDA9-7926-57E8-9D8571240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C6582EE-5F1A-3DE7-F861-959D36AF37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518" y="2296776"/>
            <a:ext cx="675092" cy="67509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9FA041B-3620-7410-ADA8-7BC1003460FD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1FE67D6-206A-7A30-DA26-CA924C768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05A92E3-930B-4373-5C19-8AB42D94A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5FA9794-7E74-D806-8047-68646F90CC28}"/>
              </a:ext>
            </a:extLst>
          </p:cNvPr>
          <p:cNvSpPr txBox="1"/>
          <p:nvPr/>
        </p:nvSpPr>
        <p:spPr>
          <a:xfrm>
            <a:off x="355356" y="2971868"/>
            <a:ext cx="4807132" cy="42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MX" sz="20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EQUIPO MULTIDISCIPLINARIO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E12EE3C-349A-745D-8187-3BFE1133A6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140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522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86BA6-2DDF-9642-E20F-E624F80B9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808B85B-9BDE-6839-152A-6A91D4154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40CA97E-4147-8265-7218-021FC90B7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0C699FF-8794-2569-ABDE-D527CAD9C418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BA0E8DA-B577-2D9D-4FF4-29018ECCE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36F74025-59B4-21A7-7313-4357EBBC5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FF653F8-1C08-BC9D-9639-1DE7AC6741E7}"/>
              </a:ext>
            </a:extLst>
          </p:cNvPr>
          <p:cNvSpPr txBox="1"/>
          <p:nvPr/>
        </p:nvSpPr>
        <p:spPr>
          <a:xfrm>
            <a:off x="611711" y="609600"/>
            <a:ext cx="10960629" cy="6823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4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Revisión médica general 		               1 vez al año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2400" b="1" kern="100" dirty="0">
              <a:solidFill>
                <a:srgbClr val="00B050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400" b="1" kern="100" dirty="0">
                <a:solidFill>
                  <a:srgbClr val="00B05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Constancia del entrenamiento                     De acuerdo al objetivo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4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Trabajo de fuerza 				</a:t>
            </a:r>
            <a:r>
              <a:rPr lang="es-MX" sz="24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2 veces por semana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400" b="1" kern="100" dirty="0">
                <a:solidFill>
                  <a:srgbClr val="00B05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Trabajo de core</a:t>
            </a:r>
            <a:r>
              <a:rPr lang="es-MX" sz="24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s-MX" sz="2400" b="1" kern="100" dirty="0">
                <a:solidFill>
                  <a:srgbClr val="00B05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2 veces por semana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4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Trabajo de flexibilidad y movilidad            3 veces por semana</a:t>
            </a:r>
            <a:endParaRPr lang="es-MX" sz="2400" b="1" kern="100" dirty="0">
              <a:solidFill>
                <a:srgbClr val="00B050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4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Prueba de biomecánica 		               </a:t>
            </a:r>
            <a:r>
              <a:rPr lang="es-MX" sz="2400" b="1" kern="100" dirty="0">
                <a:solidFill>
                  <a:srgbClr val="00B05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MX" sz="24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n caso de presentar molestias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4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Recuperación                                                         Alimentación, hielo </a:t>
            </a:r>
            <a:endParaRPr lang="es-MX" sz="2400" b="1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400" b="1" kern="100" dirty="0"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4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Descarga muscular 		             Cada </a:t>
            </a:r>
            <a:r>
              <a:rPr lang="es-MX" sz="24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s-MX" sz="24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ª  </a:t>
            </a:r>
            <a:r>
              <a:rPr lang="es-MX" sz="24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s-MX" sz="24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semanas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2400" b="1" kern="100" dirty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400" b="1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Uso adecuado de calzado y rotación          600 a 800km 6 a 8 meses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2400" b="1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016C7ED-9915-A47C-DE2D-77D197CBBD85}"/>
              </a:ext>
            </a:extLst>
          </p:cNvPr>
          <p:cNvCxnSpPr/>
          <p:nvPr/>
        </p:nvCxnSpPr>
        <p:spPr>
          <a:xfrm>
            <a:off x="927931" y="1457864"/>
            <a:ext cx="10551971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BD25A47-CCE8-32EC-7111-05FAAC851439}"/>
              </a:ext>
            </a:extLst>
          </p:cNvPr>
          <p:cNvCxnSpPr/>
          <p:nvPr/>
        </p:nvCxnSpPr>
        <p:spPr>
          <a:xfrm>
            <a:off x="896090" y="2136475"/>
            <a:ext cx="10551971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ADF5B1A-F9D3-50CE-BE8F-69298FC68706}"/>
              </a:ext>
            </a:extLst>
          </p:cNvPr>
          <p:cNvCxnSpPr/>
          <p:nvPr/>
        </p:nvCxnSpPr>
        <p:spPr>
          <a:xfrm>
            <a:off x="927931" y="2792083"/>
            <a:ext cx="10551971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A9A3D35-0584-0E73-BE50-1DFBB6ECCE6E}"/>
              </a:ext>
            </a:extLst>
          </p:cNvPr>
          <p:cNvCxnSpPr/>
          <p:nvPr/>
        </p:nvCxnSpPr>
        <p:spPr>
          <a:xfrm>
            <a:off x="927931" y="3447690"/>
            <a:ext cx="10551971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9E678D0-B4DA-CB5C-F246-69D7CC632EFF}"/>
              </a:ext>
            </a:extLst>
          </p:cNvPr>
          <p:cNvCxnSpPr/>
          <p:nvPr/>
        </p:nvCxnSpPr>
        <p:spPr>
          <a:xfrm>
            <a:off x="927931" y="4698521"/>
            <a:ext cx="10551971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35606EDF-E874-0CBA-AF32-4BA5D66EE014}"/>
              </a:ext>
            </a:extLst>
          </p:cNvPr>
          <p:cNvCxnSpPr/>
          <p:nvPr/>
        </p:nvCxnSpPr>
        <p:spPr>
          <a:xfrm>
            <a:off x="927931" y="5854461"/>
            <a:ext cx="10551971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0994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55C88-408D-E7C4-6F3F-08896F57E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64F4FB8-1DEA-8B24-4729-5B033A037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6EE7710-459F-4B20-C3F3-41EBFD1B9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37903BA-4555-E601-0F03-E023FB69B846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C87DB06-7D34-B420-39A3-E392B95D1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D2EA3E86-5D57-5D3C-97A0-521A84DB9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44D3813-6BAF-7944-E54C-B4551920C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77871"/>
            <a:ext cx="514198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4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tos"/>
                <a:cs typeface="Times New Roman" panose="02020603050405020304" pitchFamily="18" charset="0"/>
              </a:rPr>
              <a:t>RECOMENDACIONES</a:t>
            </a:r>
            <a:endParaRPr kumimoji="0" lang="es-MX" altLang="es-MX" sz="4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A80811A-0071-F58C-7518-FA43F2143FB8}"/>
              </a:ext>
            </a:extLst>
          </p:cNvPr>
          <p:cNvSpPr txBox="1"/>
          <p:nvPr/>
        </p:nvSpPr>
        <p:spPr>
          <a:xfrm>
            <a:off x="483647" y="1593424"/>
            <a:ext cx="11443310" cy="2473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400" b="1" kern="100" dirty="0">
                <a:solidFill>
                  <a:srgbClr val="FF000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Avisar</a:t>
            </a:r>
            <a:r>
              <a:rPr lang="es-MX" sz="2400" kern="100" dirty="0">
                <a:solidFill>
                  <a:srgbClr val="FF000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 la entrenadora </a:t>
            </a:r>
            <a:r>
              <a:rPr lang="es-MX" sz="2400" b="1" kern="100" dirty="0">
                <a:solidFill>
                  <a:srgbClr val="FF000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cualquier molestia </a:t>
            </a:r>
            <a:r>
              <a:rPr lang="es-MX" sz="2400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en el primer instante. No esperarse cuando no se pueda más.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MX" sz="1000" kern="100" dirty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2400" b="1" kern="100" dirty="0">
                <a:solidFill>
                  <a:srgbClr val="FF000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Preguntar</a:t>
            </a:r>
            <a:r>
              <a:rPr lang="es-MX" sz="2400" kern="100" dirty="0">
                <a:solidFill>
                  <a:srgbClr val="FF000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400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 la entrenadora </a:t>
            </a:r>
            <a:r>
              <a:rPr lang="es-MX" sz="2400" b="1" kern="100" dirty="0">
                <a:solidFill>
                  <a:srgbClr val="FF000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si puedo hacer cambios de días de entrenami</a:t>
            </a:r>
            <a:r>
              <a:rPr lang="es-MX" sz="24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ento</a:t>
            </a:r>
            <a:r>
              <a:rPr lang="es-MX" sz="2400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ya que está dosificado adecuadamente para la asimilación positiva de la carga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2400" b="1" kern="100" dirty="0">
                <a:solidFill>
                  <a:srgbClr val="FF000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Avisar </a:t>
            </a:r>
            <a:r>
              <a:rPr lang="es-MX" sz="24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si asistiras a una carrera, si se modificara tu calendario</a:t>
            </a:r>
            <a:endParaRPr lang="es-MX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DDDF34A-D413-3EA5-A7E3-5EF30124E7AC}"/>
              </a:ext>
            </a:extLst>
          </p:cNvPr>
          <p:cNvSpPr txBox="1"/>
          <p:nvPr/>
        </p:nvSpPr>
        <p:spPr>
          <a:xfrm>
            <a:off x="623912" y="4355199"/>
            <a:ext cx="10574382" cy="2502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400" b="1" kern="100" dirty="0">
                <a:solidFill>
                  <a:srgbClr val="00B05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TRAINER PLAN</a:t>
            </a:r>
            <a:endParaRPr lang="es-MX" sz="1000" b="1" kern="100" dirty="0">
              <a:solidFill>
                <a:srgbClr val="00B050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400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¿Cómo se usa?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2400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El entrenamiento semanal se envía por la </a:t>
            </a:r>
            <a:r>
              <a:rPr lang="es-MX" sz="2400" i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app </a:t>
            </a:r>
            <a:r>
              <a:rPr lang="es-MX" sz="2400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los domingos por la noche.</a:t>
            </a:r>
            <a:endParaRPr lang="es-MX" sz="1000" kern="100" dirty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2400" b="1" kern="100" dirty="0">
                <a:solidFill>
                  <a:srgbClr val="FF000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Anticiparse</a:t>
            </a:r>
            <a:r>
              <a:rPr lang="es-MX" sz="2400" b="1" kern="1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un día antes por la noche checar el entrenamiento a seguir si tienes duda mandar mensaje a la couch</a:t>
            </a:r>
            <a:endParaRPr lang="es-MX" sz="1000" b="1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814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23358-F108-1B99-835E-AE1EACA8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18E9BE0-E308-D761-167E-F4C40EB56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7D5F3D0-0000-65A8-B4AE-275A57E63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956E3C0-DFCA-0E49-39C7-373536825BFB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DFD02B76-A21D-4EB3-F488-10B1549FA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32B70217-55B6-AC21-379A-CAEB10A0B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D42BCC6-B757-A10E-86D7-81324464E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77871"/>
            <a:ext cx="3107774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4000" b="1" dirty="0">
                <a:solidFill>
                  <a:srgbClr val="00B050"/>
                </a:solidFill>
                <a:latin typeface="Aptos"/>
                <a:cs typeface="Times New Roman" panose="02020603050405020304" pitchFamily="18" charset="0"/>
              </a:rPr>
              <a:t>MATERIALES</a:t>
            </a:r>
            <a:endParaRPr kumimoji="0" lang="es-MX" altLang="es-MX" sz="4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25C9B99-583C-1C5F-F56A-8D3946119432}"/>
              </a:ext>
            </a:extLst>
          </p:cNvPr>
          <p:cNvSpPr txBox="1"/>
          <p:nvPr/>
        </p:nvSpPr>
        <p:spPr>
          <a:xfrm>
            <a:off x="483648" y="1593424"/>
            <a:ext cx="6883804" cy="1347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MX" dirty="0"/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dirty="0"/>
              <a:t>SE ENCONTRARAN EN EL DRIVE  EL LINK SIEMPRE ESTARA EN EL GRUPO DE INFORMACION FIJADO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MX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AFA2B53-48C1-32ED-AFED-5AF8DF52A270}"/>
              </a:ext>
            </a:extLst>
          </p:cNvPr>
          <p:cNvSpPr txBox="1"/>
          <p:nvPr/>
        </p:nvSpPr>
        <p:spPr>
          <a:xfrm>
            <a:off x="3037115" y="3073647"/>
            <a:ext cx="6204856" cy="3259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dirty="0"/>
              <a:t>VIDEOS DE FUERZA PARA REALIZAR EN CASA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dirty="0"/>
              <a:t>EJERCICIOS DE CORE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dirty="0"/>
              <a:t>ESTIRAMIENTOS DINAMICOS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dirty="0"/>
              <a:t>EJERCICIOS DE MOVILIDAD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dirty="0"/>
              <a:t>EJERCICIOS DE FLEXIBILIDAD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dirty="0"/>
              <a:t>EJERCICIOS PARA PERIOSTITIS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dirty="0"/>
              <a:t>EJERCICIOS PARA BANDA ILIOTIBIL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dirty="0"/>
              <a:t>EJERCICIOS PARA CUADRICEPS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dirty="0"/>
              <a:t>EJERCICIOS PARA SINDROME PIRAMIDAL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MX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232E813-F345-0659-11F6-09CB2D175FE7}"/>
              </a:ext>
            </a:extLst>
          </p:cNvPr>
          <p:cNvSpPr txBox="1"/>
          <p:nvPr/>
        </p:nvSpPr>
        <p:spPr>
          <a:xfrm>
            <a:off x="160848" y="3916772"/>
            <a:ext cx="10574382" cy="1490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b="1" kern="100" dirty="0">
              <a:solidFill>
                <a:srgbClr val="00B050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b="1" kern="100" dirty="0">
                <a:solidFill>
                  <a:srgbClr val="00B050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QUE ENCONTRARAS AHI</a:t>
            </a:r>
            <a:endParaRPr lang="es-MX" sz="800" b="1" kern="100" dirty="0">
              <a:solidFill>
                <a:srgbClr val="00B050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800" kern="100" dirty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</a:pPr>
            <a:endParaRPr lang="es-MX" sz="800" b="1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A7F7B263-5965-0A66-993A-08B52B91D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9"/>
          <a:stretch/>
        </p:blipFill>
        <p:spPr>
          <a:xfrm>
            <a:off x="7574540" y="1136224"/>
            <a:ext cx="3160690" cy="556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866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26AE7-61D9-D4EE-774F-1F98A6C69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66D79FB-81BA-EE86-CF0E-EFB5DF90B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5C56E01-82C5-0CC8-0D71-6F2B5A3AC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864DD6F-8BCC-5216-D423-25C0BFF3CAA4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EBD113B-3C17-433B-638E-74C0069D3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53F1B85-6304-4770-9145-9181638FA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D913964-6456-F865-A3BB-C35B06044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77871"/>
            <a:ext cx="287707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4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tos"/>
                <a:cs typeface="Times New Roman" panose="02020603050405020304" pitchFamily="18" charset="0"/>
              </a:rPr>
              <a:t>ACUERDOS</a:t>
            </a:r>
            <a:endParaRPr kumimoji="0" lang="es-MX" altLang="es-MX" sz="4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1A4DE2A-E05A-2F26-A61D-3578A1552AB0}"/>
              </a:ext>
            </a:extLst>
          </p:cNvPr>
          <p:cNvSpPr txBox="1"/>
          <p:nvPr/>
        </p:nvSpPr>
        <p:spPr>
          <a:xfrm>
            <a:off x="483647" y="1593424"/>
            <a:ext cx="10854913" cy="50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400" dirty="0"/>
              <a:t>Revisión médica periodica:en caso de 21km correr electrocardiograma cada año</a:t>
            </a:r>
          </a:p>
          <a:p>
            <a:pPr lvl="0">
              <a:lnSpc>
                <a:spcPct val="115000"/>
              </a:lnSpc>
              <a:spcAft>
                <a:spcPts val="0"/>
              </a:spcAft>
            </a:pPr>
            <a:r>
              <a:rPr lang="es-MX" sz="2400" dirty="0"/>
              <a:t> y 42.195km prueba de esfuerzo cada 5 años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400" dirty="0"/>
              <a:t>Leer y respetar el </a:t>
            </a:r>
            <a:r>
              <a:rPr lang="es-MX" sz="2400" dirty="0">
                <a:solidFill>
                  <a:srgbClr val="FF0000"/>
                </a:solidFill>
              </a:rPr>
              <a:t>reglamento</a:t>
            </a:r>
            <a:r>
              <a:rPr lang="es-MX" sz="2400" dirty="0"/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400" dirty="0"/>
              <a:t>Tener firmado la carta responsiva y el reglamento.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400" dirty="0">
                <a:solidFill>
                  <a:srgbClr val="FF0000"/>
                </a:solidFill>
              </a:rPr>
              <a:t>AVISAR : </a:t>
            </a:r>
            <a:r>
              <a:rPr lang="es-MX" sz="2400" dirty="0"/>
              <a:t>en caso de darte de baja,</a:t>
            </a:r>
            <a:r>
              <a:rPr lang="es-MX" sz="2400" dirty="0">
                <a:solidFill>
                  <a:srgbClr val="000000"/>
                </a:solidFill>
                <a:effectLst/>
                <a:latin typeface="Helvetica" pitchFamily="2" charset="0"/>
              </a:rPr>
              <a:t> en ausencias mayores a un mes, deberá darse previo aviso al staﬀ, de lo contrario, deberá pagarse el mes completo.</a:t>
            </a:r>
            <a:endParaRPr lang="es-MX" sz="2400" dirty="0">
              <a:solidFill>
                <a:srgbClr val="000000"/>
              </a:solidFill>
              <a:latin typeface="Helvetica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400" dirty="0">
                <a:solidFill>
                  <a:srgbClr val="000000"/>
                </a:solidFill>
                <a:effectLst/>
                <a:latin typeface="Helvetica" pitchFamily="2" charset="0"/>
              </a:rPr>
              <a:t>Solo se manejarán 2 fechas de pago, los días 15 y  primero de cada  de mes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400" dirty="0">
                <a:solidFill>
                  <a:srgbClr val="FF0000"/>
                </a:solidFill>
                <a:effectLst/>
                <a:latin typeface="Helvetica" pitchFamily="2" charset="0"/>
              </a:rPr>
              <a:t>El tiempo máximo para realizar el pago serán 3 días naturales posteriores a la fecha asignada si no se cobrara una penalización de 50.00 pesos.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MX" sz="24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41669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C50C-882F-3F9F-071D-BB860ABB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2BFB228-51A3-C646-8D01-C9A9C3423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8B80431-46E3-934F-5A63-E80B0781A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7BC3124-9545-9EBF-615C-B1EE950BBDA3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E5E6094-F7A2-DC5A-764D-5D263DE95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6B1AB769-3139-2AAE-A1DF-2C718742C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5BF74AC-8284-D0AD-8242-0818EFEE6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77871"/>
            <a:ext cx="4149534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4000" b="1" dirty="0">
                <a:solidFill>
                  <a:srgbClr val="00B050"/>
                </a:solidFill>
                <a:latin typeface="Aptos"/>
                <a:cs typeface="Times New Roman" panose="02020603050405020304" pitchFamily="18" charset="0"/>
              </a:rPr>
              <a:t>COMUNICACIÓN</a:t>
            </a:r>
            <a:endParaRPr kumimoji="0" lang="es-MX" altLang="es-MX" sz="4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522BA1-06B4-CD2E-8489-759DAFB5FF3D}"/>
              </a:ext>
            </a:extLst>
          </p:cNvPr>
          <p:cNvSpPr txBox="1"/>
          <p:nvPr/>
        </p:nvSpPr>
        <p:spPr>
          <a:xfrm>
            <a:off x="624989" y="2577247"/>
            <a:ext cx="10854913" cy="2091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400" dirty="0">
                <a:solidFill>
                  <a:srgbClr val="000000"/>
                </a:solidFill>
                <a:effectLst/>
                <a:latin typeface="Helvetica" pitchFamily="2" charset="0"/>
              </a:rPr>
              <a:t>DUDAS POR WHATSAP EN UN HORARIO DE 6 A 8 AM O DE 4 A 6 PM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400" dirty="0">
                <a:solidFill>
                  <a:srgbClr val="000000"/>
                </a:solidFill>
                <a:latin typeface="Helvetica" pitchFamily="2" charset="0"/>
              </a:rPr>
              <a:t>POR MEDIO DE LA APP EN COMENTARIOS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400" dirty="0">
                <a:solidFill>
                  <a:srgbClr val="000000"/>
                </a:solidFill>
                <a:effectLst/>
                <a:latin typeface="Helvetica" pitchFamily="2" charset="0"/>
              </a:rPr>
              <a:t>LOS DIAS MIERCOLES LA COUCH SE COMUNICARA CONTIGO PARA FEEDBACK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777213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E8FC2-633D-7A93-6642-4BE7D8399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FE79C9F-8EA8-73A7-B72F-7FF6E167F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BBFD53C-6E56-D5DB-1669-36A024D87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52FE3F7-FCC7-B078-295F-9D01CFF69D2F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9E4463B-4DD5-6565-9E13-2D67C7783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22C927A-1D7C-92EE-D40F-53345C737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92D3B1D-631F-C2F4-A625-FD596B9E9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77871"/>
            <a:ext cx="331905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4000" b="1" dirty="0">
                <a:solidFill>
                  <a:srgbClr val="00B050"/>
                </a:solidFill>
                <a:latin typeface="Aptos"/>
                <a:cs typeface="Times New Roman" panose="02020603050405020304" pitchFamily="18" charset="0"/>
              </a:rPr>
              <a:t>VALORACIÓN</a:t>
            </a:r>
            <a:endParaRPr kumimoji="0" lang="es-MX" altLang="es-MX" sz="4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7CA551-20D3-1306-A453-9D0C0ABB5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187" y="0"/>
            <a:ext cx="45533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556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57808-D1E9-0182-42D9-C68429EA2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92F3A9E-37DC-C3D7-1514-E86E5B4C0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70B0C6-B2F6-522C-741B-9C5011B58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DD5DB41B-3FA6-54FC-F068-7E4A96DB7B98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9C79C00-E019-3AC0-3E4E-696B252E2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E22AA684-7ADE-0C5E-8101-71BD2996F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24F2424-021A-A2CD-03FE-3B4D3B972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77871"/>
            <a:ext cx="310764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4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tos"/>
                <a:cs typeface="Times New Roman" panose="02020603050405020304" pitchFamily="18" charset="0"/>
              </a:rPr>
              <a:t>CONVENIOS</a:t>
            </a:r>
            <a:endParaRPr kumimoji="0" lang="es-MX" altLang="es-MX" sz="4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EE67A05-43A0-D42C-E535-714B54060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349" y="0"/>
            <a:ext cx="4507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723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4692-44BA-55F9-34F1-1484C714D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6FA6AD4-13C0-0460-3631-045849C0A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CDB4114-14DA-05FA-991E-66EF75570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48C4BFD-5F5B-E6B2-5374-5B80E1F759EF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202623A-C9F7-1FBF-AC13-B7314436B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5DCA8874-D730-8B94-D392-BF2D7BA4F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AAFC336-7504-4818-0DF6-BB6A6CCB7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77871"/>
            <a:ext cx="310764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4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tos"/>
                <a:cs typeface="Times New Roman" panose="02020603050405020304" pitchFamily="18" charset="0"/>
              </a:rPr>
              <a:t>CONVENIOS</a:t>
            </a:r>
            <a:endParaRPr kumimoji="0" lang="es-MX" altLang="es-MX" sz="4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7C7449-B417-5537-C5DF-4C8952FE7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187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010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EA4F-4E23-BA54-71A2-7D6FA5871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60050C8-4D2E-6CD9-8CEF-BBDCAD249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7D2A8CA-706F-590C-28E8-0E43D8895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E107193-209D-1502-2364-47242E06FFDE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11BD8ED-6C12-7B18-88A2-8E5664ED2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2129B008-40FF-635B-964C-D6C0AE110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3AA9926-1C65-55F5-3740-5D6F646EA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77871"/>
            <a:ext cx="310764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4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tos"/>
                <a:cs typeface="Times New Roman" panose="02020603050405020304" pitchFamily="18" charset="0"/>
              </a:rPr>
              <a:t>CONVENIOS</a:t>
            </a:r>
            <a:endParaRPr kumimoji="0" lang="es-MX" altLang="es-MX" sz="4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DF7214-59E9-8CAB-C6BF-639C4E3D1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370" y="1774370"/>
            <a:ext cx="5083629" cy="508362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B2F0018-6BD8-4F4D-3929-45A2CC37D209}"/>
              </a:ext>
            </a:extLst>
          </p:cNvPr>
          <p:cNvSpPr txBox="1"/>
          <p:nvPr/>
        </p:nvSpPr>
        <p:spPr>
          <a:xfrm>
            <a:off x="287704" y="2254081"/>
            <a:ext cx="39250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Av Héroe de Nacozari 210A entre Virrey de Mendoza y Damasco frente a los tribunales y 15% de descuento</a:t>
            </a:r>
          </a:p>
          <a:p>
            <a:r>
              <a:rPr lang="es-MX" dirty="0"/>
              <a:t>Lunes a viernes de 7 am a 3 pm</a:t>
            </a:r>
          </a:p>
        </p:txBody>
      </p:sp>
    </p:spTree>
    <p:extLst>
      <p:ext uri="{BB962C8B-B14F-4D97-AF65-F5344CB8AC3E}">
        <p14:creationId xmlns:p14="http://schemas.microsoft.com/office/powerpoint/2010/main" val="28534351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7CAEE-D338-5F95-AB75-8D17356C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2AA2134-0D44-2FD1-F0E9-78DD8E701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6FB9AB5-4888-7FA5-C018-AF994BF71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BAE11CA-5AE2-939D-5B6D-DCA3FE2567E8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F993018-18EB-32D7-6C34-9C376FB76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F0D7218-AAFE-BBFF-70CB-F21805256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400F7CA-9EF8-0158-787A-6F966F9E5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77871"/>
            <a:ext cx="310764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4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tos"/>
                <a:cs typeface="Times New Roman" panose="02020603050405020304" pitchFamily="18" charset="0"/>
              </a:rPr>
              <a:t>CONVENIOS</a:t>
            </a:r>
            <a:endParaRPr kumimoji="0" lang="es-MX" altLang="es-MX" sz="4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E3016DA-1608-E1C4-56E9-85F795394938}"/>
              </a:ext>
            </a:extLst>
          </p:cNvPr>
          <p:cNvSpPr txBox="1"/>
          <p:nvPr/>
        </p:nvSpPr>
        <p:spPr>
          <a:xfrm>
            <a:off x="3037115" y="2828836"/>
            <a:ext cx="6204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Pikocitos</a:t>
            </a:r>
          </a:p>
          <a:p>
            <a:r>
              <a:rPr lang="es-MX" dirty="0"/>
              <a:t>10% de descuento en la compra mínima de 1 bag grade en pedidos por whats 4491087785</a:t>
            </a:r>
          </a:p>
          <a:p>
            <a:r>
              <a:rPr lang="es-MX" dirty="0"/>
              <a:t>@Pikocitos.ags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CA72D01-145F-6B88-EB34-E91EF9CFD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963" y="4302578"/>
            <a:ext cx="6350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608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9B9FD-22A5-B440-87DB-698F29445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1E51CA4-D070-FF63-DDF8-23B38C796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723583F-5B15-D2C2-859A-33FFA8FB4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A2263C1-27DD-F16D-96B2-28536712F77E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F9ABBB4-0D2C-CE43-6443-F8D77B5F6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7E947A6A-9B7E-A425-5E43-7E9EFC838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FC96FF8-B1E3-5C85-C361-0388DAF56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77871"/>
            <a:ext cx="310764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4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tos"/>
                <a:cs typeface="Times New Roman" panose="02020603050405020304" pitchFamily="18" charset="0"/>
              </a:rPr>
              <a:t>CONVENIOS</a:t>
            </a:r>
            <a:endParaRPr kumimoji="0" lang="es-MX" altLang="es-MX" sz="4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D09B76-DA92-BC6D-0058-01784E273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928" y="2149928"/>
            <a:ext cx="4708071" cy="470807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F50F1FE-D51F-372B-0DC3-282EC7A2E914}"/>
              </a:ext>
            </a:extLst>
          </p:cNvPr>
          <p:cNvSpPr txBox="1"/>
          <p:nvPr/>
        </p:nvSpPr>
        <p:spPr>
          <a:xfrm>
            <a:off x="287704" y="2382560"/>
            <a:ext cx="62048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Boutique ( ropa para damas)</a:t>
            </a:r>
          </a:p>
          <a:p>
            <a:r>
              <a:rPr lang="es-MX" dirty="0"/>
              <a:t>Shop online</a:t>
            </a:r>
          </a:p>
          <a:p>
            <a:r>
              <a:rPr lang="es-MX" dirty="0"/>
              <a:t>20% de descuento en toda la tienda</a:t>
            </a:r>
          </a:p>
        </p:txBody>
      </p:sp>
    </p:spTree>
    <p:extLst>
      <p:ext uri="{BB962C8B-B14F-4D97-AF65-F5344CB8AC3E}">
        <p14:creationId xmlns:p14="http://schemas.microsoft.com/office/powerpoint/2010/main" val="23195731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52719-4AE5-E0DA-F391-7493E2DAB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60C7D46-6D55-44D3-D69A-BD9F2DDAD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E6E41C8-7FCE-094F-B0C1-6DED2EABA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0BA23C0-2723-9146-504F-15DB63F8A5FC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9C2BC3F-918D-ADB0-FFF7-6F348F40A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D375D002-1B2D-6010-52A0-5835BABA1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FEED32-2EF4-A658-C435-054F1B641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77871"/>
            <a:ext cx="310764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4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tos"/>
                <a:cs typeface="Times New Roman" panose="02020603050405020304" pitchFamily="18" charset="0"/>
              </a:rPr>
              <a:t>CONVENIOS</a:t>
            </a:r>
            <a:endParaRPr kumimoji="0" lang="es-MX" altLang="es-MX" sz="4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CB20D2-96E0-D776-EF98-16A2EF02A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347" y="0"/>
            <a:ext cx="6858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EAD82D0-43FB-24CE-037F-96D6E392E96A}"/>
              </a:ext>
            </a:extLst>
          </p:cNvPr>
          <p:cNvSpPr txBox="1"/>
          <p:nvPr/>
        </p:nvSpPr>
        <p:spPr>
          <a:xfrm>
            <a:off x="157618" y="2208977"/>
            <a:ext cx="39906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Descuento del 15% en la compra de cualquiera de nuestros productos.</a:t>
            </a:r>
          </a:p>
          <a:p>
            <a:endParaRPr lang="es-MX" dirty="0"/>
          </a:p>
          <a:p>
            <a:r>
              <a:rPr lang="es-MX" dirty="0"/>
              <a:t>Síguenos en nuestras redes sociales:</a:t>
            </a:r>
          </a:p>
          <a:p>
            <a:endParaRPr lang="es-MX" dirty="0"/>
          </a:p>
          <a:p>
            <a:r>
              <a:rPr lang="es-MX" dirty="0"/>
              <a:t>IG: dako_y_robin</a:t>
            </a:r>
          </a:p>
        </p:txBody>
      </p:sp>
    </p:spTree>
    <p:extLst>
      <p:ext uri="{BB962C8B-B14F-4D97-AF65-F5344CB8AC3E}">
        <p14:creationId xmlns:p14="http://schemas.microsoft.com/office/powerpoint/2010/main" val="29035865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55195-BA2E-1884-7D77-976E338D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5616001-ED06-E7FE-6ED5-C80D369F6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401E71C-643A-19D9-2855-508EB3FDA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1D32922-ECF3-854E-079E-7612301513CA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90B07EF-8CD5-98DE-3F39-C47144C1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3274C9E6-374B-7CCC-ED7C-3D22F6B28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9213151-C919-CFBA-2E66-FCC30C731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77871"/>
            <a:ext cx="310764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4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tos"/>
                <a:cs typeface="Times New Roman" panose="02020603050405020304" pitchFamily="18" charset="0"/>
              </a:rPr>
              <a:t>CONVENIOS</a:t>
            </a:r>
            <a:endParaRPr kumimoji="0" lang="es-MX" altLang="es-MX" sz="4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459252-7BBF-7E0A-51EF-FA03683A5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300" y="114300"/>
            <a:ext cx="4597400" cy="66294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0648BDD-552D-2FB1-88FC-8126224C7C63}"/>
              </a:ext>
            </a:extLst>
          </p:cNvPr>
          <p:cNvSpPr txBox="1"/>
          <p:nvPr/>
        </p:nvSpPr>
        <p:spPr>
          <a:xfrm>
            <a:off x="0" y="2577246"/>
            <a:ext cx="3107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los miembros activos tendrían 15% de descuento</a:t>
            </a:r>
          </a:p>
        </p:txBody>
      </p:sp>
    </p:spTree>
    <p:extLst>
      <p:ext uri="{BB962C8B-B14F-4D97-AF65-F5344CB8AC3E}">
        <p14:creationId xmlns:p14="http://schemas.microsoft.com/office/powerpoint/2010/main" val="23173519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E1030-6851-7726-7E67-364A7C1D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DCF3113-2197-642F-A808-16D2EECAB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1D5A3A5-119A-1428-0788-08F445B43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1327501-37E1-D7E3-26C8-433037441522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B6B1100-0A94-76A0-4661-7C246F3A1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03A43FFB-F6C8-FCB3-5DFB-2A1CA439C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288E09F-8F94-2CAD-E6E9-9EF8B2A96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77871"/>
            <a:ext cx="346223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4000" b="1" dirty="0">
                <a:solidFill>
                  <a:srgbClr val="00B050"/>
                </a:solidFill>
                <a:latin typeface="Aptos"/>
                <a:cs typeface="Times New Roman" panose="02020603050405020304" pitchFamily="18" charset="0"/>
              </a:rPr>
              <a:t>DESCUENTOS</a:t>
            </a:r>
            <a:endParaRPr kumimoji="0" lang="es-MX" altLang="es-MX" sz="4000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20724CE-23E3-1098-E860-EA0D18BBCE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187" y="0"/>
            <a:ext cx="48461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381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F283A-6981-F900-68C5-30E451F0F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02C4B4E-E78B-3802-F935-BDCA80F17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90" y="0"/>
            <a:ext cx="7692346" cy="5952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850EA4B-3BA4-41FD-DDEF-FFD73913A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26" y="0"/>
            <a:ext cx="1406753" cy="113622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02F11D6-C56A-4DA0-F1AC-DFA74C204EDF}"/>
              </a:ext>
            </a:extLst>
          </p:cNvPr>
          <p:cNvSpPr/>
          <p:nvPr/>
        </p:nvSpPr>
        <p:spPr>
          <a:xfrm>
            <a:off x="287704" y="595241"/>
            <a:ext cx="11192198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3200" kern="100" dirty="0"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s-MX" sz="1100" kern="100" dirty="0"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B9BE3DA-DEBF-F94F-3C9E-D02AF0867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1E2E86AB-9556-8FD8-D1D1-15152724B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53FD910-EC3F-A202-C0B0-B7CA4998D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85647"/>
            <a:ext cx="783464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DISEÑO SUDADERA Y ROMPE VIENTOS</a:t>
            </a:r>
          </a:p>
        </p:txBody>
      </p:sp>
    </p:spTree>
    <p:extLst>
      <p:ext uri="{BB962C8B-B14F-4D97-AF65-F5344CB8AC3E}">
        <p14:creationId xmlns:p14="http://schemas.microsoft.com/office/powerpoint/2010/main" val="14311337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</TotalTime>
  <Words>1595</Words>
  <Application>Microsoft Macintosh PowerPoint</Application>
  <PresentationFormat>Panorámica</PresentationFormat>
  <Paragraphs>307</Paragraphs>
  <Slides>55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55</vt:i4>
      </vt:variant>
    </vt:vector>
  </HeadingPairs>
  <TitlesOfParts>
    <vt:vector size="64" baseType="lpstr">
      <vt:lpstr>-webkit-standard</vt:lpstr>
      <vt:lpstr>Aptos</vt:lpstr>
      <vt:lpstr>Arial</vt:lpstr>
      <vt:lpstr>Calibri</vt:lpstr>
      <vt:lpstr>Calibri Light</vt:lpstr>
      <vt:lpstr>Google Sans</vt:lpstr>
      <vt:lpstr>Helvetica</vt:lpstr>
      <vt:lpstr>Symbol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CYNTHIA VERONICA TORRES VELAZQUEZ</cp:lastModifiedBy>
  <cp:revision>64</cp:revision>
  <dcterms:created xsi:type="dcterms:W3CDTF">2025-06-23T19:08:57Z</dcterms:created>
  <dcterms:modified xsi:type="dcterms:W3CDTF">2025-11-27T05:14:22Z</dcterms:modified>
</cp:coreProperties>
</file>